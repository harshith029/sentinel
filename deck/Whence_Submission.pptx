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40080"/>
            <a:ext cx="10637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PROTOTYPE SUBMISSION  ·  MICROSOFT BUILD AI HACKATHON 2026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1920240"/>
            <a:ext cx="10637215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spc="400" kern="0" dirty="0">
                <a:solidFill>
                  <a:srgbClr val="F0F3F6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WHENCE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777240" y="3291840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Provenance-aware security for AI agents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77240" y="402336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8A4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action an agent takes is checked against where its instructions came from —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8A4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 a poisoned web page can never make an agent leak your data.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5989320"/>
            <a:ext cx="10637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0F3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 WHENCE</a:t>
            </a:r>
            <a:pPr indent="0" marL="0">
              <a:buNone/>
            </a:pPr>
            <a:r>
              <a:rPr lang="en-US" sz="1350" dirty="0">
                <a:solidFill>
                  <a:srgbClr val="5E6A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|   Pali Krishna Harshith   |   Theme: Security in the Agentic Future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10637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 NAME AND MEMBER DETAILS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914400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3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 WHENCE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2103120"/>
            <a:ext cx="6583680" cy="3017520"/>
          </a:xfrm>
          <a:prstGeom prst="roundRect">
            <a:avLst>
              <a:gd name="adj" fmla="val 3030"/>
            </a:avLst>
          </a:prstGeom>
          <a:solidFill>
            <a:srgbClr val="161C24"/>
          </a:solidFill>
          <a:ln w="12700">
            <a:solidFill>
              <a:srgbClr val="232B3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188720" y="251460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F3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PALI KRISHNA HARSHITH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88720" y="297180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Solo developer — full build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3474720"/>
            <a:ext cx="5760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98A4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 &amp; security core (provenance, authorization, trust)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98A4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Proxy, control plane &amp; forensic evidence pipeline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98A4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dashboard &amp; demo UX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98A4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Testing, CI and deployment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726680" y="2103120"/>
            <a:ext cx="3657600" cy="3017520"/>
          </a:xfrm>
          <a:prstGeom prst="roundRect">
            <a:avLst>
              <a:gd name="adj" fmla="val 3030"/>
            </a:avLst>
          </a:prstGeom>
          <a:solidFill>
            <a:srgbClr val="121A24"/>
          </a:solidFill>
          <a:ln w="12700">
            <a:solidFill>
              <a:srgbClr val="232B3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092440" y="25146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THEME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092440" y="297180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F0F3F6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Security in the Agentic Future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092440" y="44348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github.com/Harshith029/Whence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7240" y="5577840"/>
            <a:ext cx="10637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E6A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MIT licensed · CI green · 277 automated tests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127729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A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10637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914400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3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Agents act. Attacks hide in what they read.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2057400"/>
            <a:ext cx="10607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98A4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agents are moving from chat to action: they browse, query business systems, and send communications autonomously through tool calls. That creates a new attack surface — indirect prompt injection. An attacker plants instructions inside content the agent will read: a web page, a document, an email. When the agent processes that content, the hidden instruction executes with the agent's full privileges — “summarize this pricing page” silently becomes “email this customer's SSN and API key to the attacker.”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77240" y="379476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98A4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Today's defenses scan the text for attack patterns. Microsoft's own Prompt Shields documentation states it “may not catch all attack vectors” and recommends additional validation layers. Obfuscated attacks routinely evade filters — and once the model is persuaded, nothing stands between the injected instruction and the harmful action.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77240" y="525780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0F3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gap:  </a:t>
            </a:r>
            <a:pPr indent="0" marL="0">
              <a:buNone/>
            </a:pPr>
            <a:r>
              <a:rPr lang="en-US" sz="1900" dirty="0">
                <a:solidFill>
                  <a:srgbClr val="F0F3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is applied to the </a:t>
            </a:r>
            <a:pPr indent="0" marL="0">
              <a:buNone/>
            </a:pPr>
            <a:r>
              <a:rPr lang="en-US" sz="19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words</a:t>
            </a:r>
            <a:pPr indent="0" marL="0">
              <a:buNone/>
            </a:pPr>
            <a:r>
              <a:rPr lang="en-US" sz="1900" dirty="0">
                <a:solidFill>
                  <a:srgbClr val="F0F3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while the damage is done by the </a:t>
            </a:r>
            <a:pPr indent="0" marL="0">
              <a:buNone/>
            </a:pPr>
            <a:r>
              <a:rPr lang="en-US" sz="1900" b="1" dirty="0">
                <a:solidFill>
                  <a:srgbClr val="F871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actions</a:t>
            </a:r>
            <a:pPr indent="0" marL="0">
              <a:buNone/>
            </a:pPr>
            <a:r>
              <a:rPr lang="en-US" sz="1900" dirty="0">
                <a:solidFill>
                  <a:srgbClr val="F0F3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127729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A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10637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914400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3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provenance-aware security proxy for every agent tool call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2011680"/>
            <a:ext cx="3456432" cy="1993392"/>
          </a:xfrm>
          <a:prstGeom prst="roundRect">
            <a:avLst>
              <a:gd name="adj" fmla="val 4587"/>
            </a:avLst>
          </a:prstGeom>
          <a:solidFill>
            <a:srgbClr val="161C24"/>
          </a:solidFill>
          <a:ln w="12700">
            <a:solidFill>
              <a:srgbClr val="232B3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05840" y="2157984"/>
            <a:ext cx="2999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IT SOLVES THE PROBLEM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005840" y="2578608"/>
            <a:ext cx="29992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98A4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Labels the origin of everything the agent sees and authorizes every tool call against that lineage. An action tracing back to untrusted content is blocked — even when the text filter missed the attack. Tools are network-isolated behind WHENCE: interception can't be bypassed.</a:t>
            </a:r>
            <a:endParaRPr lang="en-US" sz="1030" dirty="0"/>
          </a:p>
        </p:txBody>
      </p:sp>
      <p:sp>
        <p:nvSpPr>
          <p:cNvPr id="7" name="Shape 5"/>
          <p:cNvSpPr/>
          <p:nvPr/>
        </p:nvSpPr>
        <p:spPr>
          <a:xfrm>
            <a:off x="4370832" y="2011680"/>
            <a:ext cx="3456432" cy="1993392"/>
          </a:xfrm>
          <a:prstGeom prst="roundRect">
            <a:avLst>
              <a:gd name="adj" fmla="val 4587"/>
            </a:avLst>
          </a:prstGeom>
          <a:solidFill>
            <a:srgbClr val="161C24"/>
          </a:solidFill>
          <a:ln w="12700">
            <a:solidFill>
              <a:srgbClr val="232B3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599432" y="2157984"/>
            <a:ext cx="2999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IMPACT METRICS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99432" y="2578608"/>
            <a:ext cx="29992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98A4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Injected actions blocked: 100% of the demo suite, incl. filter-evading variants · secrets exfiltrated: 0 · automatic quarantine on repeated abuse · every decision recorded as replayable forensic evidence · 277 automated tests.</a:t>
            </a:r>
            <a:endParaRPr lang="en-US" sz="1030" dirty="0"/>
          </a:p>
        </p:txBody>
      </p:sp>
      <p:sp>
        <p:nvSpPr>
          <p:cNvPr id="10" name="Shape 8"/>
          <p:cNvSpPr/>
          <p:nvPr/>
        </p:nvSpPr>
        <p:spPr>
          <a:xfrm>
            <a:off x="7964424" y="2011680"/>
            <a:ext cx="3456432" cy="1993392"/>
          </a:xfrm>
          <a:prstGeom prst="roundRect">
            <a:avLst>
              <a:gd name="adj" fmla="val 4587"/>
            </a:avLst>
          </a:prstGeom>
          <a:solidFill>
            <a:srgbClr val="161C24"/>
          </a:solidFill>
          <a:ln w="12700">
            <a:solidFill>
              <a:srgbClr val="232B3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193024" y="2157984"/>
            <a:ext cx="2999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TECHNOLOGY STACK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193024" y="2578608"/>
            <a:ext cx="29992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98A4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· MCP (Model Context Protocol) · FastAPI · OpenTelemetry.  Azure: AI Foundry, AI Content Safety (Prompt Shields), Azure OpenAI, Cosmos DB, Azure Monitor, Container Apps.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777240" y="4233672"/>
            <a:ext cx="3456432" cy="1993392"/>
          </a:xfrm>
          <a:prstGeom prst="roundRect">
            <a:avLst>
              <a:gd name="adj" fmla="val 4587"/>
            </a:avLst>
          </a:prstGeom>
          <a:solidFill>
            <a:srgbClr val="161C24"/>
          </a:solidFill>
          <a:ln w="12700">
            <a:solidFill>
              <a:srgbClr val="232B3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005840" y="4379976"/>
            <a:ext cx="2999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ASSUMPTIONS &amp; DECISIONS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005840" y="4800600"/>
            <a:ext cx="29992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98A4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MCP chosen as the open standard for agent tools → ONE proxy protects any agent (Foundry, Claude, GPT, custom) with zero agent-code changes. Deny-by-default typed policy engine (no eval). The offline demo runs the identical pipeline as production.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4370832" y="4233672"/>
            <a:ext cx="3456432" cy="1993392"/>
          </a:xfrm>
          <a:prstGeom prst="roundRect">
            <a:avLst>
              <a:gd name="adj" fmla="val 4587"/>
            </a:avLst>
          </a:prstGeom>
          <a:solidFill>
            <a:srgbClr val="161C24"/>
          </a:solidFill>
          <a:ln w="12700">
            <a:solidFill>
              <a:srgbClr val="232B3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599432" y="4379976"/>
            <a:ext cx="2999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IMPLEMENTATION &amp; EFFECTIVENESS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99432" y="4800600"/>
            <a:ext cx="29992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98A4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Drop-in: point the agent's tool endpoint at WHENCE — no SDK, no agent modification. Proven to block attacks that evade Prompt Shields (the architecture, not the filter, stops them).</a:t>
            </a:r>
            <a:endParaRPr lang="en-US" sz="1030" dirty="0"/>
          </a:p>
        </p:txBody>
      </p:sp>
      <p:sp>
        <p:nvSpPr>
          <p:cNvPr id="19" name="Shape 17"/>
          <p:cNvSpPr/>
          <p:nvPr/>
        </p:nvSpPr>
        <p:spPr>
          <a:xfrm>
            <a:off x="7964424" y="4233672"/>
            <a:ext cx="3456432" cy="1993392"/>
          </a:xfrm>
          <a:prstGeom prst="roundRect">
            <a:avLst>
              <a:gd name="adj" fmla="val 4587"/>
            </a:avLst>
          </a:prstGeom>
          <a:solidFill>
            <a:srgbClr val="161C24"/>
          </a:solidFill>
          <a:ln w="12700">
            <a:solidFill>
              <a:srgbClr val="232B3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193024" y="4379976"/>
            <a:ext cx="2999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SCALABILITY &amp; USABILITY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193024" y="4800600"/>
            <a:ext cx="29992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98A4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Scales horizontally across sessions (Container Apps autoscaling) · multi-tenant policies with safe hot-reload · one-click reproducible attack demo · SIEM-ready alert export for SOC teams.</a:t>
            </a:r>
            <a:endParaRPr lang="en-US" sz="1030" dirty="0"/>
          </a:p>
        </p:txBody>
      </p:sp>
      <p:sp>
        <p:nvSpPr>
          <p:cNvPr id="22" name="Text 20"/>
          <p:cNvSpPr/>
          <p:nvPr/>
        </p:nvSpPr>
        <p:spPr>
          <a:xfrm>
            <a:off x="1127729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A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10637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METHODOLOGY — ARCHITECTURE &amp; 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914400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3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pipeline for every tool call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2423160"/>
            <a:ext cx="2331720" cy="1600200"/>
          </a:xfrm>
          <a:prstGeom prst="roundRect">
            <a:avLst>
              <a:gd name="adj" fmla="val 5714"/>
            </a:avLst>
          </a:prstGeom>
          <a:solidFill>
            <a:srgbClr val="161C24"/>
          </a:solidFill>
          <a:ln w="12700">
            <a:solidFill>
              <a:srgbClr val="232B3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77240" y="26974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0F3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31546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8A4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Foundry · Claude · GPT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8A4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 any custom agent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154680" y="3218688"/>
            <a:ext cx="685800" cy="0"/>
          </a:xfrm>
          <a:prstGeom prst="line">
            <a:avLst/>
          </a:prstGeom>
          <a:noFill/>
          <a:ln w="28575">
            <a:solidFill>
              <a:srgbClr val="38BDF8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3931920" y="2011680"/>
            <a:ext cx="4846320" cy="3291840"/>
          </a:xfrm>
          <a:prstGeom prst="roundRect">
            <a:avLst>
              <a:gd name="adj" fmla="val 2778"/>
            </a:avLst>
          </a:prstGeom>
          <a:solidFill>
            <a:srgbClr val="121A24"/>
          </a:solidFill>
          <a:ln w="12700">
            <a:solidFill>
              <a:srgbClr val="232B3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06240" y="2176272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WHENCE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233672" y="2651760"/>
            <a:ext cx="365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8BDF8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663440" y="263347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0F3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Trace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035040" y="2633472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8A4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label the origin of everything the agent has seen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233672" y="3310128"/>
            <a:ext cx="365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8BDF8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663440" y="32918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0F3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Authorize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035040" y="32918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8A4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policy decides each action using those origins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233672" y="3968496"/>
            <a:ext cx="365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8BDF8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663440" y="3950208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0F3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Contain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035040" y="395020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8A4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repeated abuse quarantines the agent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233672" y="4626864"/>
            <a:ext cx="365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8BDF8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663440" y="4608576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0F3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Record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035040" y="4608576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8A4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decision becomes a replayable audit trail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842248" y="3218688"/>
            <a:ext cx="685800" cy="0"/>
          </a:xfrm>
          <a:prstGeom prst="line">
            <a:avLst/>
          </a:prstGeom>
          <a:noFill/>
          <a:ln w="28575">
            <a:solidFill>
              <a:srgbClr val="38BDF8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9646920" y="2423160"/>
            <a:ext cx="2331720" cy="1600200"/>
          </a:xfrm>
          <a:prstGeom prst="roundRect">
            <a:avLst>
              <a:gd name="adj" fmla="val 5714"/>
            </a:avLst>
          </a:prstGeom>
          <a:solidFill>
            <a:srgbClr val="161C24"/>
          </a:solidFill>
          <a:ln w="12700">
            <a:solidFill>
              <a:srgbClr val="232B3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9646920" y="26974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0F3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TOOLS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9646920" y="31546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8A4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email · web · records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8A4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isolated behind WHENCE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77240" y="56235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F3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Attack flow: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2240280" y="5623560"/>
            <a:ext cx="9235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 record </a:t>
            </a:r>
            <a:pPr indent="0" marL="0">
              <a:buNone/>
            </a:pPr>
            <a:r>
              <a:rPr lang="en-US" sz="1250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fetch poisoned page </a:t>
            </a:r>
            <a:pPr indent="0" marL="0">
              <a:buNone/>
            </a:pPr>
            <a:r>
              <a:rPr lang="en-US" sz="1250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filter scan: missed </a:t>
            </a:r>
            <a:pPr indent="0" marL="0">
              <a:buNone/>
            </a:pPr>
            <a:r>
              <a:rPr lang="en-US" sz="1250" b="1" dirty="0">
                <a:solidFill>
                  <a:srgbClr val="F871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exfiltration attempt: BLOCKED by provenance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77240" y="5989320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E6A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Tools are reachable only through WHENCE — interception is guaranteed by the network itself. Full flow charts and the forensic data model are in the repository.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27729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A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10637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WORKING PROTOTYPE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914400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3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Fully functional today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214884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Repository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971800" y="214884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8A4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github.com/Harshith029/Whence  —  MIT · CI green · 277 tests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3136392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locally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971800" y="3136392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8A4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make dashboard  →  localhost:8765  →  click “launch attack”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4123944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971800" y="4123944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8A4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Docker image + one-click Render blueprint (render.yaml) in the repo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5111496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 video &amp; live link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971800" y="5111496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8A4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attached on the platform</a:t>
            </a:r>
            <a:endParaRPr lang="en-US" sz="1200" dirty="0"/>
          </a:p>
        </p:txBody>
      </p:sp>
      <p:pic>
        <p:nvPicPr>
          <p:cNvPr id="12" name="Image 0" descr="SENTINEL dashboard, attack blocke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10935" y="2148840"/>
            <a:ext cx="5303520" cy="33147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110935" y="5573268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E6A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live dashboard mid-attack: the exfiltration email refused, lineage shown, agent quarantined.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127729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A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10637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ATTACHMENTS — SCREENSHOTS FROM THE RUNNING SYSTEM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914400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3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Evidence, not claims</a:t>
            </a:r>
            <a:endParaRPr lang="en-US" sz="3000" dirty="0"/>
          </a:p>
        </p:txBody>
      </p:sp>
      <p:pic>
        <p:nvPicPr>
          <p:cNvPr id="4" name="Image 0" descr="Outbox with vs without SENTIN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03120"/>
            <a:ext cx="5212080" cy="293179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5144643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i="1" dirty="0">
                <a:solidFill>
                  <a:srgbClr val="5E6A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Outbox with vs without WHENCE: the SSN/API key reach the attacker only when WHENCE is absent — with it, “never persisted.”</a:t>
            </a:r>
            <a:endParaRPr lang="en-US" sz="1100" dirty="0"/>
          </a:p>
        </p:txBody>
      </p:sp>
      <p:pic>
        <p:nvPicPr>
          <p:cNvPr id="6" name="Image 1" descr="Forensic kill chain and Azure capability matrix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2375" y="2103120"/>
            <a:ext cx="5212080" cy="293179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02375" y="5144643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i="1" dirty="0">
                <a:solidFill>
                  <a:srgbClr val="5E6A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Forensic kill chain, structured-extractor validation, and the DEMO-vs-AZURE capability matrix.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1127729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A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SENTINEL — prototype submission</dc:title>
  <dc:subject>PptxGenJS Presentation</dc:subject>
  <dc:creator>Pali Krishna Harshith</dc:creator>
  <cp:lastModifiedBy>Pali Krishna Harshith</cp:lastModifiedBy>
  <cp:revision>1</cp:revision>
  <dcterms:created xsi:type="dcterms:W3CDTF">2026-06-13T02:05:56Z</dcterms:created>
  <dcterms:modified xsi:type="dcterms:W3CDTF">2026-06-13T02:05:56Z</dcterms:modified>
</cp:coreProperties>
</file>